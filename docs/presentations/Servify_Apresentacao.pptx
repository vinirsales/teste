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imes New Roman"/>
                <a:buNone/>
              </a:pPr>
              <a:t>‹nº›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2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3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0caef55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100" cy="308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g3f00caef557_1_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00caef557_1_0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4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5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6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7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8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9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10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11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12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13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14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15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16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040" cy="3085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17</a:t>
            </a:fld>
            <a:endParaRPr sz="12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ff20c72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100" cy="308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g3eff20c729e_0_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ff20c729e_0_1:notes"/>
          <p:cNvSpPr txBox="1">
            <a:spLocks noGrp="1"/>
          </p:cNvSpPr>
          <p:nvPr>
            <p:ph type="sldNum" idx="12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t>18</a:t>
            </a:fld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video" Target="file:///C:\Users\Adriani\plf-es-2026-1-ti2-1381100-grupo3-servify\docs\video\Servify_Video_720p.mp4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90500" y="-1438112"/>
            <a:ext cx="10260361" cy="68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9" name="Google Shape;19;p3" descr="/mnt/user-data/uploads/WhatsApp_Image_2026-06-29_at_01_54_3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442825" y="-405775"/>
            <a:ext cx="4775351" cy="477532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48640" y="3712250"/>
            <a:ext cx="82293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Engenharia de Software </a:t>
            </a:r>
            <a:r>
              <a:rPr lang="en-US" sz="1200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 b="0" i="0" u="none" strike="noStrike" cap="none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 Noite  |  PUC Minas</a:t>
            </a:r>
            <a:endParaRPr sz="1200" b="0" i="0" u="none" strike="noStrike" cap="none">
              <a:solidFill>
                <a:srgbClr val="5530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123730"/>
            <a:ext cx="82293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Arthur Jansen  ·  Arthur Burdignon  ·  Bruna Pedrosa  ·  Lucas Sivolella  ·  Vinicius Sales</a:t>
            </a:r>
            <a:endParaRPr sz="1100" b="0" i="0" u="none" strike="noStrike" cap="none">
              <a:solidFill>
                <a:srgbClr val="5530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535210"/>
            <a:ext cx="8229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Professoras</a:t>
            </a:r>
            <a:r>
              <a:rPr lang="en-US" sz="1000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000" b="0" i="0" u="none" strike="noStrike" cap="none">
                <a:solidFill>
                  <a:srgbClr val="55308D"/>
                </a:solidFill>
                <a:latin typeface="Calibri"/>
                <a:ea typeface="Calibri"/>
                <a:cs typeface="Calibri"/>
                <a:sym typeface="Calibri"/>
              </a:rPr>
              <a:t> Cleia Marcia Gomes Amaral  ·  Joana Gabriela Ribeiro de Souza</a:t>
            </a:r>
            <a:endParaRPr sz="1000" b="0" i="0" u="none" strike="noStrike" cap="none">
              <a:solidFill>
                <a:srgbClr val="55308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Contextualização: O Setor de Serviços no Brasil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5760" y="1005840"/>
            <a:ext cx="2742840" cy="2559960"/>
          </a:xfrm>
          <a:prstGeom prst="roundRect">
            <a:avLst>
              <a:gd name="adj" fmla="val 4286"/>
            </a:avLst>
          </a:prstGeom>
          <a:solidFill>
            <a:srgbClr val="3D3DB8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1234440"/>
            <a:ext cx="274284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70%</a:t>
            </a:r>
            <a:endParaRPr sz="4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5760" y="2057400"/>
            <a:ext cx="274284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D4D4FF"/>
                </a:solidFill>
                <a:latin typeface="Calibri"/>
                <a:ea typeface="Calibri"/>
                <a:cs typeface="Calibri"/>
                <a:sym typeface="Calibri"/>
              </a:rPr>
              <a:t>do PIB Nacional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468880"/>
            <a:ext cx="255996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O setor de serviços representa a maior parte da economia brasileira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46120" y="1005840"/>
            <a:ext cx="2742840" cy="2559960"/>
          </a:xfrm>
          <a:prstGeom prst="roundRect">
            <a:avLst>
              <a:gd name="adj" fmla="val 4286"/>
            </a:avLst>
          </a:prstGeom>
          <a:solidFill>
            <a:srgbClr val="5B3DB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46120" y="1234440"/>
            <a:ext cx="274284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99%</a:t>
            </a:r>
            <a:endParaRPr sz="4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46120" y="2057400"/>
            <a:ext cx="274284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D4D4FF"/>
                </a:solidFill>
                <a:latin typeface="Calibri"/>
                <a:ea typeface="Calibri"/>
                <a:cs typeface="Calibri"/>
                <a:sym typeface="Calibri"/>
              </a:rPr>
              <a:t>Micro e Pequenas Empresas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337560" y="2468880"/>
            <a:ext cx="255996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Empresas desse porte representam quase todos os negócios ativos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126480" y="1005840"/>
            <a:ext cx="2742840" cy="2559960"/>
          </a:xfrm>
          <a:prstGeom prst="roundRect">
            <a:avLst>
              <a:gd name="adj" fmla="val 4286"/>
            </a:avLst>
          </a:prstGeom>
          <a:solidFill>
            <a:srgbClr val="7B4DCC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126480" y="1234440"/>
            <a:ext cx="274284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1.2M</a:t>
            </a:r>
            <a:endParaRPr sz="4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26480" y="2057400"/>
            <a:ext cx="274284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D4D4FF"/>
                </a:solidFill>
                <a:latin typeface="Calibri"/>
                <a:ea typeface="Calibri"/>
                <a:cs typeface="Calibri"/>
                <a:sym typeface="Calibri"/>
              </a:rPr>
              <a:t>Estabelecimentos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217920" y="2468880"/>
            <a:ext cx="255996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Barbearias, salões e estúdios de estética em todo o Brasil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07880" y="3780000"/>
            <a:ext cx="8412120" cy="959760"/>
          </a:xfrm>
          <a:prstGeom prst="roundRect">
            <a:avLst>
              <a:gd name="adj" fmla="val 7619"/>
            </a:avLst>
          </a:prstGeom>
          <a:solidFill>
            <a:srgbClr val="FFF3CD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3840480"/>
            <a:ext cx="8229240" cy="86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3350" tIns="63350" rIns="63350" bIns="633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rgbClr val="6B4700"/>
                </a:solidFill>
                <a:latin typeface="Calibri"/>
                <a:ea typeface="Calibri"/>
                <a:cs typeface="Calibri"/>
                <a:sym typeface="Calibri"/>
              </a:rPr>
              <a:t>⚠  Apesar do crescimento, muitos empreendedores ainda utilizam planilhas e anotações manuais</a:t>
            </a:r>
            <a:r>
              <a:rPr lang="en-US" sz="1300">
                <a:solidFill>
                  <a:srgbClr val="6B47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US" sz="1300">
                <a:solidFill>
                  <a:srgbClr val="6B47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u="none" strike="noStrike">
                <a:solidFill>
                  <a:srgbClr val="6B47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6B470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300" b="0" u="none" strike="noStrike">
                <a:solidFill>
                  <a:srgbClr val="6B4700"/>
                </a:solidFill>
                <a:latin typeface="Calibri"/>
                <a:ea typeface="Calibri"/>
                <a:cs typeface="Calibri"/>
                <a:sym typeface="Calibri"/>
              </a:rPr>
              <a:t>gerando erros, retrabalho e falta de controle.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O Problema Atual</a:t>
            </a:r>
            <a:endParaRPr sz="2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777240"/>
            <a:ext cx="457164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>
                <a:solidFill>
                  <a:srgbClr val="6B4EFF"/>
                </a:solidFill>
                <a:latin typeface="Calibri"/>
                <a:ea typeface="Calibri"/>
                <a:cs typeface="Calibri"/>
                <a:sym typeface="Calibri"/>
              </a:rPr>
              <a:t>Caso real: Baixinho Hair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18872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777240" y="1161360"/>
            <a:ext cx="402300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Cálculo manual de comissões gera erros e conflitos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84716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777240" y="1819800"/>
            <a:ext cx="402300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Falta de transparência entre colaboradores e gestores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250560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777240" y="2477880"/>
            <a:ext cx="402300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Planilhas desorganizadas dificultam o controle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16368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777240" y="3136320"/>
            <a:ext cx="402300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Ausência de controle em tempo real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822120"/>
            <a:ext cx="255600" cy="2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777240" y="3794760"/>
            <a:ext cx="402300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Relatórios manuais consomem tempo valioso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074920" y="1005840"/>
            <a:ext cx="3748680" cy="3794400"/>
          </a:xfrm>
          <a:prstGeom prst="roundRect">
            <a:avLst>
              <a:gd name="adj" fmla="val 2927"/>
            </a:avLst>
          </a:prstGeom>
          <a:solidFill>
            <a:srgbClr val="EDE9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212080" y="1188720"/>
            <a:ext cx="347436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Impacto no Negócio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212080" y="1737360"/>
            <a:ext cx="34743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→  Eficiência operacional comprometida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212080" y="2423160"/>
            <a:ext cx="34743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→  Tomada de decisão prejudicada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212080" y="3108960"/>
            <a:ext cx="34743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→  Escalabilidade limitada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212080" y="3794760"/>
            <a:ext cx="34743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u="none" strike="noStrike">
                <a:solidFill>
                  <a:srgbClr val="1A1A3E"/>
                </a:solidFill>
                <a:latin typeface="Calibri"/>
                <a:ea typeface="Calibri"/>
                <a:cs typeface="Calibri"/>
                <a:sym typeface="Calibri"/>
              </a:rPr>
              <a:t>→  Conflitos internos por erros de comissão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00" y="1192650"/>
            <a:ext cx="1647775" cy="18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457200" y="228600"/>
            <a:ext cx="8229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O Problema Atual</a:t>
            </a:r>
            <a:endParaRPr sz="2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777240"/>
            <a:ext cx="45717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>
                <a:solidFill>
                  <a:srgbClr val="6B4EFF"/>
                </a:solidFill>
                <a:latin typeface="Calibri"/>
                <a:ea typeface="Calibri"/>
                <a:cs typeface="Calibri"/>
                <a:sym typeface="Calibri"/>
              </a:rPr>
              <a:t>Caso real: Baixinho Hair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2375" y="1192650"/>
            <a:ext cx="1647775" cy="186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4750" y="1192645"/>
            <a:ext cx="1647775" cy="1850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7125" y="1192650"/>
            <a:ext cx="1647775" cy="1845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8188" y="3142375"/>
            <a:ext cx="1587200" cy="17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32375" y="3139500"/>
            <a:ext cx="1624951" cy="182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74750" y="3142375"/>
            <a:ext cx="1624950" cy="181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Nossa Solução</a:t>
            </a:r>
            <a:endParaRPr sz="3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57200" y="868680"/>
            <a:ext cx="822924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Plataforma web para automação da gestão operacional e financeira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de empresas de serviços com remuneração por comissão.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20040" y="178308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920240"/>
            <a:ext cx="383760" cy="3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914400" y="1892880"/>
            <a:ext cx="205704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Automatizar Controle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11480" y="2377440"/>
            <a:ext cx="25599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CCCCFF"/>
                </a:solidFill>
                <a:latin typeface="Calibri"/>
                <a:ea typeface="Calibri"/>
                <a:cs typeface="Calibri"/>
                <a:sym typeface="Calibri"/>
              </a:rPr>
              <a:t>Serviços, comissões e agenda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3218760" y="178308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55920" y="1920240"/>
            <a:ext cx="383760" cy="3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/>
          <p:nvPr/>
        </p:nvSpPr>
        <p:spPr>
          <a:xfrm>
            <a:off x="3813120" y="1892880"/>
            <a:ext cx="205704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Garantir Segurança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310200" y="2377440"/>
            <a:ext cx="25599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CCCCFF"/>
                </a:solidFill>
                <a:latin typeface="Calibri"/>
                <a:ea typeface="Calibri"/>
                <a:cs typeface="Calibri"/>
                <a:sym typeface="Calibri"/>
              </a:rPr>
              <a:t>Dados protegidos e organizados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108120" y="178308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5280" y="1920240"/>
            <a:ext cx="383760" cy="3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6702480" y="1892880"/>
            <a:ext cx="205704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Aumentar Eficiência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199560" y="2377440"/>
            <a:ext cx="25599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CCCCFF"/>
                </a:solidFill>
                <a:latin typeface="Calibri"/>
                <a:ea typeface="Calibri"/>
                <a:cs typeface="Calibri"/>
                <a:sym typeface="Calibri"/>
              </a:rPr>
              <a:t>Processos sem retrabalho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320040" y="329184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7200" y="3429000"/>
            <a:ext cx="383760" cy="3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914400" y="3401640"/>
            <a:ext cx="205704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Gestão de Perfis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11480" y="3886200"/>
            <a:ext cx="25599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CCCCFF"/>
                </a:solidFill>
                <a:latin typeface="Calibri"/>
                <a:ea typeface="Calibri"/>
                <a:cs typeface="Calibri"/>
                <a:sym typeface="Calibri"/>
              </a:rPr>
              <a:t>Admin, Colaborador, Cliente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218760" y="3291840"/>
            <a:ext cx="2742840" cy="1371240"/>
          </a:xfrm>
          <a:prstGeom prst="roundRect">
            <a:avLst>
              <a:gd name="adj" fmla="val 6667"/>
            </a:avLst>
          </a:prstGeom>
          <a:solidFill>
            <a:srgbClr val="FFFFFF">
              <a:alpha val="12156"/>
            </a:srgbClr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55920" y="3429000"/>
            <a:ext cx="383760" cy="3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/>
          <p:nvPr/>
        </p:nvSpPr>
        <p:spPr>
          <a:xfrm>
            <a:off x="3813120" y="3401640"/>
            <a:ext cx="205704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Relatórios Gerenciais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310200" y="3886200"/>
            <a:ext cx="255996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CCCCFF"/>
                </a:solidFill>
                <a:latin typeface="Calibri"/>
                <a:ea typeface="Calibri"/>
                <a:cs typeface="Calibri"/>
                <a:sym typeface="Calibri"/>
              </a:rPr>
              <a:t>Apoio à tomada de decisão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Perfis de Usuários</a:t>
            </a:r>
            <a:endParaRPr sz="2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320040" y="914400"/>
            <a:ext cx="2011320" cy="3840120"/>
          </a:xfrm>
          <a:prstGeom prst="roundRect">
            <a:avLst>
              <a:gd name="adj" fmla="val 5455"/>
            </a:avLst>
          </a:prstGeom>
          <a:solidFill>
            <a:srgbClr val="3D3DB8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320040" y="1051560"/>
            <a:ext cx="201132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Administrador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11480" y="1600200"/>
            <a:ext cx="1828440" cy="292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Dono/gestor do negócio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Cadastro de serviços e colaboradores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Parametrização de comissões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Relatórios e controle de permissões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2423160" y="914400"/>
            <a:ext cx="2011320" cy="3840120"/>
          </a:xfrm>
          <a:prstGeom prst="roundRect">
            <a:avLst>
              <a:gd name="adj" fmla="val 5455"/>
            </a:avLst>
          </a:prstGeom>
          <a:solidFill>
            <a:srgbClr val="5B3DB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423160" y="1051560"/>
            <a:ext cx="201132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Colaborador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2514600" y="1600200"/>
            <a:ext cx="1828440" cy="292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Barbeiro, esteticista, manicure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Visualiza agenda própria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Registra serviços realizados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Consulta relatório de comissões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26275" y="941725"/>
            <a:ext cx="2011200" cy="3840000"/>
          </a:xfrm>
          <a:prstGeom prst="roundRect">
            <a:avLst>
              <a:gd name="adj" fmla="val 5455"/>
            </a:avLst>
          </a:prstGeom>
          <a:solidFill>
            <a:srgbClr val="8B6EDD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526275" y="1078885"/>
            <a:ext cx="20112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Cliente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4617715" y="1627525"/>
            <a:ext cx="1828500" cy="29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Usuário final dos serviços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Agenda serviços online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Consulta histórico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E0E0FF"/>
                </a:solidFill>
                <a:latin typeface="Calibri"/>
                <a:ea typeface="Calibri"/>
                <a:cs typeface="Calibri"/>
                <a:sym typeface="Calibri"/>
              </a:rPr>
              <a:t>• Participa de programas de fidelidade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Modelagem dos Processos TO-BE</a:t>
            </a:r>
            <a:endParaRPr sz="2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57200" y="713160"/>
            <a:ext cx="822924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6B4EFF"/>
                </a:solidFill>
                <a:latin typeface="Calibri"/>
                <a:ea typeface="Calibri"/>
                <a:cs typeface="Calibri"/>
                <a:sym typeface="Calibri"/>
              </a:rPr>
              <a:t>5 processos de negócio modelados em notação BPMN 2.0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65760" y="1143000"/>
            <a:ext cx="8412120" cy="594000"/>
          </a:xfrm>
          <a:prstGeom prst="roundRect">
            <a:avLst>
              <a:gd name="adj" fmla="val 12308"/>
            </a:avLst>
          </a:prstGeom>
          <a:solidFill>
            <a:srgbClr val="3D3DB8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57200" y="1207080"/>
            <a:ext cx="54828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AAAA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1097280" y="1207080"/>
            <a:ext cx="73148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Gestão de Usuário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65760" y="1874520"/>
            <a:ext cx="8412120" cy="594000"/>
          </a:xfrm>
          <a:prstGeom prst="roundRect">
            <a:avLst>
              <a:gd name="adj" fmla="val 12308"/>
            </a:avLst>
          </a:prstGeom>
          <a:solidFill>
            <a:srgbClr val="4A40C0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57200" y="1938600"/>
            <a:ext cx="54828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AAAA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1097280" y="1938600"/>
            <a:ext cx="73148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Gestão de Serviço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365760" y="2606040"/>
            <a:ext cx="8412120" cy="594000"/>
          </a:xfrm>
          <a:prstGeom prst="roundRect">
            <a:avLst>
              <a:gd name="adj" fmla="val 12308"/>
            </a:avLst>
          </a:prstGeom>
          <a:solidFill>
            <a:srgbClr val="5745C8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57200" y="2670120"/>
            <a:ext cx="54828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AAAA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097280" y="2670120"/>
            <a:ext cx="73148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Gestão de Agendamento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365760" y="3337560"/>
            <a:ext cx="8412120" cy="594000"/>
          </a:xfrm>
          <a:prstGeom prst="roundRect">
            <a:avLst>
              <a:gd name="adj" fmla="val 12308"/>
            </a:avLst>
          </a:prstGeom>
          <a:solidFill>
            <a:srgbClr val="6449D0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57200" y="3401640"/>
            <a:ext cx="54828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AAAA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097280" y="3401640"/>
            <a:ext cx="73148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Gestão de Comissão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365760" y="4069080"/>
            <a:ext cx="8412120" cy="594000"/>
          </a:xfrm>
          <a:prstGeom prst="roundRect">
            <a:avLst>
              <a:gd name="adj" fmla="val 12308"/>
            </a:avLst>
          </a:prstGeom>
          <a:solidFill>
            <a:srgbClr val="7250D8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57200" y="4133160"/>
            <a:ext cx="54828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AAAA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097280" y="4133160"/>
            <a:ext cx="7314840" cy="45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Gestão de Relatório</a:t>
            </a: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1C1C1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DEE6EF"/>
                </a:solidFill>
                <a:latin typeface="Cambria"/>
                <a:ea typeface="Cambria"/>
                <a:cs typeface="Cambria"/>
                <a:sym typeface="Cambria"/>
              </a:rPr>
              <a:t>P1 – Gestão de Usuário (TO-BE)</a:t>
            </a:r>
            <a:endParaRPr sz="2000" b="0" u="none" strike="noStrike">
              <a:solidFill>
                <a:srgbClr val="DEE6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622440"/>
            <a:ext cx="4067280" cy="441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1C1C1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230760" y="18000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DEE6EF"/>
                </a:solidFill>
                <a:latin typeface="Cambria"/>
                <a:ea typeface="Cambria"/>
                <a:cs typeface="Cambria"/>
                <a:sym typeface="Cambria"/>
              </a:rPr>
              <a:t>P3 – Gestão de Agendamento (TO-BE)</a:t>
            </a:r>
            <a:endParaRPr sz="2000" b="0" u="none" strike="noStrike">
              <a:solidFill>
                <a:srgbClr val="DEE6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00" y="1080000"/>
            <a:ext cx="8504280" cy="3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1C1C1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DEE6EF"/>
                </a:solidFill>
                <a:latin typeface="Cambria"/>
                <a:ea typeface="Cambria"/>
                <a:cs typeface="Cambria"/>
                <a:sym typeface="Cambria"/>
              </a:rPr>
              <a:t>P2 – Gestão de Serviço (TO-BE)</a:t>
            </a:r>
            <a:endParaRPr sz="2000" b="0" u="none" strike="noStrike">
              <a:solidFill>
                <a:srgbClr val="DEE6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00" y="1039680"/>
            <a:ext cx="8640000" cy="34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1C1C1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DEE6EF"/>
                </a:solidFill>
                <a:latin typeface="Cambria"/>
                <a:ea typeface="Cambria"/>
                <a:cs typeface="Cambria"/>
                <a:sym typeface="Cambria"/>
              </a:rPr>
              <a:t>P4 – Gestão de Comissão (TO-BE)</a:t>
            </a:r>
            <a:endParaRPr sz="2000" b="0" u="none" strike="noStrike">
              <a:solidFill>
                <a:srgbClr val="DEE6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75" y="960699"/>
            <a:ext cx="8085250" cy="37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none" strike="noStrike">
                <a:solidFill>
                  <a:srgbClr val="55308D"/>
                </a:solidFill>
                <a:latin typeface="Cambria"/>
                <a:ea typeface="Cambria"/>
                <a:cs typeface="Cambria"/>
                <a:sym typeface="Cambria"/>
              </a:rPr>
              <a:t>Gestão de Relatório (TO-BE)</a:t>
            </a:r>
            <a:endParaRPr sz="2000" b="0" u="none" strike="noStrike">
              <a:solidFill>
                <a:srgbClr val="5530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120" y="1205280"/>
            <a:ext cx="8651880" cy="289512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/>
          <p:nvPr/>
        </p:nvSpPr>
        <p:spPr>
          <a:xfrm>
            <a:off x="0" y="0"/>
            <a:ext cx="9180000" cy="5143680"/>
          </a:xfrm>
          <a:prstGeom prst="rect">
            <a:avLst/>
          </a:prstGeom>
          <a:solidFill>
            <a:srgbClr val="1C1C1C"/>
          </a:solidFill>
          <a:ln w="9525" cap="flat" cmpd="sng">
            <a:solidFill>
              <a:srgbClr val="3465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729FCF"/>
                </a:solidFill>
                <a:latin typeface="Cambria"/>
                <a:ea typeface="Cambria"/>
                <a:cs typeface="Cambria"/>
                <a:sym typeface="Cambria"/>
              </a:rPr>
              <a:t>Modelo de Dados</a:t>
            </a:r>
            <a:endParaRPr sz="2600" b="0" u="none" strike="noStrike">
              <a:solidFill>
                <a:srgbClr val="729FC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457200" y="713160"/>
            <a:ext cx="457164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B7B3CA"/>
                </a:solidFill>
                <a:latin typeface="Calibri"/>
                <a:ea typeface="Calibri"/>
                <a:cs typeface="Calibri"/>
                <a:sym typeface="Calibri"/>
              </a:rPr>
              <a:t>Modelo relacional com 6 tabelas – PostgreSQL</a:t>
            </a:r>
            <a:endParaRPr sz="1200" b="0" u="none" strike="noStrike">
              <a:solidFill>
                <a:srgbClr val="B7B3C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5" descr="/home/claude/teste/docs/images/modeloRelacional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051560"/>
            <a:ext cx="5303160" cy="37486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5"/>
          <p:cNvSpPr/>
          <p:nvPr/>
        </p:nvSpPr>
        <p:spPr>
          <a:xfrm>
            <a:off x="5806440" y="1005840"/>
            <a:ext cx="3017160" cy="575640"/>
          </a:xfrm>
          <a:prstGeom prst="roundRect">
            <a:avLst>
              <a:gd name="adj" fmla="val 11111"/>
            </a:avLst>
          </a:prstGeom>
          <a:solidFill>
            <a:srgbClr val="EEEE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943600" y="105156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/>
          <p:nvPr/>
        </p:nvSpPr>
        <p:spPr>
          <a:xfrm>
            <a:off x="5943600" y="126180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Usuários e perfis do sistema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5806440" y="1664280"/>
            <a:ext cx="3017160" cy="575640"/>
          </a:xfrm>
          <a:prstGeom prst="roundRect">
            <a:avLst>
              <a:gd name="adj" fmla="val 11111"/>
            </a:avLst>
          </a:prstGeom>
          <a:solidFill>
            <a:srgbClr val="F4F0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5943600" y="171000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comissao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5943600" y="192024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Percentual de comissão por colaborador/serviço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5806440" y="2322720"/>
            <a:ext cx="3017160" cy="575640"/>
          </a:xfrm>
          <a:prstGeom prst="roundRect">
            <a:avLst>
              <a:gd name="adj" fmla="val 11111"/>
            </a:avLst>
          </a:prstGeom>
          <a:solidFill>
            <a:srgbClr val="EEEE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5943600" y="236844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servico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5943600" y="257868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Catálogo de serviços oferecidos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5806440" y="2980800"/>
            <a:ext cx="3017160" cy="575640"/>
          </a:xfrm>
          <a:prstGeom prst="roundRect">
            <a:avLst>
              <a:gd name="adj" fmla="val 11111"/>
            </a:avLst>
          </a:prstGeom>
          <a:solidFill>
            <a:srgbClr val="F4F0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5943600" y="302652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agendamento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5943600" y="323712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Registro de agendamentos e faturamento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5806440" y="3639240"/>
            <a:ext cx="3017160" cy="575640"/>
          </a:xfrm>
          <a:prstGeom prst="roundRect">
            <a:avLst>
              <a:gd name="adj" fmla="val 11111"/>
            </a:avLst>
          </a:prstGeom>
          <a:solidFill>
            <a:srgbClr val="EEEE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5943600" y="368496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5943600" y="389520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Tipos de perfil de acesso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5806440" y="4297680"/>
            <a:ext cx="3017160" cy="575640"/>
          </a:xfrm>
          <a:prstGeom prst="roundRect">
            <a:avLst>
              <a:gd name="adj" fmla="val 11111"/>
            </a:avLst>
          </a:prstGeom>
          <a:solidFill>
            <a:srgbClr val="F4F0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5943600" y="434340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status_agendamento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5943600" y="4553640"/>
            <a:ext cx="2834280" cy="22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Ciclo de vida do agendamento</a:t>
            </a:r>
            <a:endParaRPr sz="9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/>
          <p:nvPr/>
        </p:nvSpPr>
        <p:spPr>
          <a:xfrm>
            <a:off x="457200" y="22860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Tecnologias Utilizadas</a:t>
            </a:r>
            <a:endParaRPr sz="2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/>
          <p:nvPr/>
        </p:nvSpPr>
        <p:spPr>
          <a:xfrm>
            <a:off x="320040" y="960120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4560" y="120708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6"/>
          <p:cNvSpPr/>
          <p:nvPr/>
        </p:nvSpPr>
        <p:spPr>
          <a:xfrm>
            <a:off x="1124640" y="109728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SGBD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124640" y="1463040"/>
            <a:ext cx="32000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4663440" y="960120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7960" y="120708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5468040" y="109728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Back-end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5468040" y="1463040"/>
            <a:ext cx="32000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Java + Spring Boot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320040" y="2240280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560" y="248724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/>
          <p:nvPr/>
        </p:nvSpPr>
        <p:spPr>
          <a:xfrm>
            <a:off x="1124640" y="237744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Front-end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1124640" y="2743200"/>
            <a:ext cx="32000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React · jQuery · TypeScript · HTML · CSS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6"/>
          <p:cNvSpPr/>
          <p:nvPr/>
        </p:nvSpPr>
        <p:spPr>
          <a:xfrm>
            <a:off x="4663440" y="2240280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27960" y="248724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6"/>
          <p:cNvSpPr/>
          <p:nvPr/>
        </p:nvSpPr>
        <p:spPr>
          <a:xfrm>
            <a:off x="5468040" y="237744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IDE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6"/>
          <p:cNvSpPr/>
          <p:nvPr/>
        </p:nvSpPr>
        <p:spPr>
          <a:xfrm>
            <a:off x="5468040" y="2743200"/>
            <a:ext cx="32000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Visual Studio Code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320040" y="3520440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560" y="376740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/>
          <p:nvPr/>
        </p:nvSpPr>
        <p:spPr>
          <a:xfrm>
            <a:off x="1124640" y="365760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Deploy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1124640" y="4023360"/>
            <a:ext cx="32000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GitHub Pages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663440" y="3520440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27960" y="3767400"/>
            <a:ext cx="502560" cy="50256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/>
          <p:nvPr/>
        </p:nvSpPr>
        <p:spPr>
          <a:xfrm>
            <a:off x="5468040" y="365760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Arquitetura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5468040" y="4023360"/>
            <a:ext cx="32000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u="none" strike="noStrike">
                <a:solidFill>
                  <a:srgbClr val="4A4A6A"/>
                </a:solidFill>
                <a:latin typeface="Calibri"/>
                <a:ea typeface="Calibri"/>
                <a:cs typeface="Calibri"/>
                <a:sym typeface="Calibri"/>
              </a:rPr>
              <a:t>Cliente-Servidor via API REST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/>
          <p:nvPr/>
        </p:nvSpPr>
        <p:spPr>
          <a:xfrm>
            <a:off x="457200" y="1828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none" strike="noStrike">
                <a:solidFill>
                  <a:srgbClr val="1A1A3E"/>
                </a:solidFill>
                <a:latin typeface="Cambria"/>
                <a:ea typeface="Cambria"/>
                <a:cs typeface="Cambria"/>
                <a:sym typeface="Cambria"/>
              </a:rPr>
              <a:t>Indicadores de Desempenho</a:t>
            </a:r>
            <a:endParaRPr sz="26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57200" y="713160"/>
            <a:ext cx="822924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>
                <a:solidFill>
                  <a:srgbClr val="6B4EFF"/>
                </a:solidFill>
                <a:latin typeface="Calibri"/>
                <a:ea typeface="Calibri"/>
                <a:cs typeface="Calibri"/>
                <a:sym typeface="Calibri"/>
              </a:rPr>
              <a:t>Métricas calculadas a partir dos dados de agendamento, serviços e comissões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320040" y="109728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23444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7"/>
          <p:cNvSpPr/>
          <p:nvPr/>
        </p:nvSpPr>
        <p:spPr>
          <a:xfrm>
            <a:off x="1033200" y="1188720"/>
            <a:ext cx="329148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Ticket Médio por Atendimento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94478" y="1641390"/>
            <a:ext cx="38400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u="none" strike="noStrike">
                <a:solidFill>
                  <a:srgbClr val="4A4A6A"/>
                </a:solidFill>
                <a:latin typeface="Courier New"/>
                <a:ea typeface="Courier New"/>
                <a:cs typeface="Courier New"/>
                <a:sym typeface="Courier New"/>
              </a:rPr>
              <a:t>Σ valorFinal(CONCLUIDO) / N(CONCLUIDO)</a:t>
            </a:r>
            <a:endParaRPr sz="900" b="1" u="none" strike="noStrike">
              <a:solidFill>
                <a:srgbClr val="000000"/>
              </a:solidFill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429850" y="2121470"/>
            <a:ext cx="3803400" cy="548400"/>
          </a:xfrm>
          <a:prstGeom prst="roundRect">
            <a:avLst>
              <a:gd name="adj" fmla="val 14286"/>
            </a:avLst>
          </a:prstGeom>
          <a:solidFill>
            <a:srgbClr val="DDD8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11553" y="2185413"/>
            <a:ext cx="38400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Ex: 3 agendamentos concluídos com valores de R$ 50,00, R$ 120,00 e 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0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R$ 70,00: TM = (50 + 120 + 70) / 3 = 240 / 3 = R$ 80,00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4663440" y="109728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123444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/>
          <p:nvPr/>
        </p:nvSpPr>
        <p:spPr>
          <a:xfrm>
            <a:off x="5376600" y="1188720"/>
            <a:ext cx="329148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Índice de Comissionamento Total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822900" y="1618314"/>
            <a:ext cx="36675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u="none" strike="noStrike">
                <a:solidFill>
                  <a:srgbClr val="4A4A6A"/>
                </a:solidFill>
                <a:latin typeface="Courier New"/>
                <a:ea typeface="Courier New"/>
                <a:cs typeface="Courier New"/>
                <a:sym typeface="Courier New"/>
              </a:rPr>
              <a:t>(Σ comissao / Σ valorFinal) × 100</a:t>
            </a:r>
            <a:endParaRPr sz="900" b="1" u="none" strike="noStrike">
              <a:solidFill>
                <a:srgbClr val="000000"/>
              </a:solidFill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773250" y="2020469"/>
            <a:ext cx="3766800" cy="649200"/>
          </a:xfrm>
          <a:prstGeom prst="roundRect">
            <a:avLst>
              <a:gd name="adj" fmla="val 14286"/>
            </a:avLst>
          </a:prstGeom>
          <a:solidFill>
            <a:srgbClr val="DDD8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773250" y="2103063"/>
            <a:ext cx="36675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Ex: </a:t>
            </a: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Faturamento total de R$ 10.000,00 e comissões totais de R$ 4.200,00:</a:t>
            </a:r>
            <a:endParaRPr sz="1000" b="1">
              <a:solidFill>
                <a:srgbClr val="3D3D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ICT = (4200 / 10000) x 100 = 0,42 x 100 = 42%</a:t>
            </a:r>
            <a:endParaRPr sz="1000" b="1">
              <a:solidFill>
                <a:srgbClr val="3D3D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320040" y="292608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306324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/>
          <p:nvPr/>
        </p:nvSpPr>
        <p:spPr>
          <a:xfrm>
            <a:off x="1033200" y="3017520"/>
            <a:ext cx="329148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Taxa de Cancelamento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21275" y="3377474"/>
            <a:ext cx="3803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u="none" strike="noStrike">
                <a:solidFill>
                  <a:srgbClr val="4A4A6A"/>
                </a:solidFill>
                <a:latin typeface="Courier New"/>
                <a:ea typeface="Courier New"/>
                <a:cs typeface="Courier New"/>
                <a:sym typeface="Courier New"/>
              </a:rPr>
              <a:t>(N(CANCELADO) / N(total)) × 100</a:t>
            </a:r>
            <a:endParaRPr sz="900" b="1" u="none" strike="noStrike">
              <a:solidFill>
                <a:srgbClr val="000000"/>
              </a:solidFill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429850" y="3761175"/>
            <a:ext cx="3840000" cy="737400"/>
          </a:xfrm>
          <a:prstGeom prst="roundRect">
            <a:avLst>
              <a:gd name="adj" fmla="val 14286"/>
            </a:avLst>
          </a:prstGeom>
          <a:solidFill>
            <a:srgbClr val="DDD8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411550" y="3913450"/>
            <a:ext cx="3766800" cy="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Ex: </a:t>
            </a: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200 agendamentos criados na semana, dos quais 16 foram cancelados:</a:t>
            </a:r>
            <a:endParaRPr sz="1000" b="1">
              <a:solidFill>
                <a:srgbClr val="3D3D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TCA = (16 / 200) x 100 = 0,08 x 100 = 8%</a:t>
            </a:r>
            <a:endParaRPr sz="1000" b="1">
              <a:solidFill>
                <a:srgbClr val="3D3D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4663440" y="2926080"/>
            <a:ext cx="4114440" cy="1691280"/>
          </a:xfrm>
          <a:prstGeom prst="roundRect">
            <a:avLst>
              <a:gd name="adj" fmla="val 5405"/>
            </a:avLst>
          </a:prstGeom>
          <a:solidFill>
            <a:srgbClr val="F0EFFF"/>
          </a:solidFill>
          <a:ln>
            <a:noFill/>
          </a:ln>
          <a:effectLst>
            <a:outerShdw blurRad="101520" dist="37674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600" y="3063240"/>
            <a:ext cx="456840" cy="45684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7"/>
          <p:cNvSpPr/>
          <p:nvPr/>
        </p:nvSpPr>
        <p:spPr>
          <a:xfrm>
            <a:off x="5376600" y="3017520"/>
            <a:ext cx="3291480" cy="4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u="none" strike="noStrike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Taxa de Ocupação dos Colaboradores (T</a:t>
            </a:r>
            <a:r>
              <a:rPr lang="en-US" sz="1100" b="1">
                <a:solidFill>
                  <a:srgbClr val="3D3DB8"/>
                </a:solidFill>
                <a:latin typeface="Cambria"/>
                <a:ea typeface="Cambria"/>
                <a:cs typeface="Cambria"/>
                <a:sym typeface="Cambria"/>
              </a:rPr>
              <a:t>OC)</a:t>
            </a:r>
            <a:endParaRPr sz="11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4818962" y="3486623"/>
            <a:ext cx="38034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u="none" strike="noStrike">
                <a:solidFill>
                  <a:srgbClr val="4A4A6A"/>
                </a:solidFill>
                <a:latin typeface="Courier New"/>
                <a:ea typeface="Courier New"/>
                <a:cs typeface="Courier New"/>
                <a:sym typeface="Courier New"/>
              </a:rPr>
              <a:t>(Σ duracaoMinutos(CONCLUIDO)/DisponibilidadeTotal)×100</a:t>
            </a:r>
            <a:endParaRPr sz="900" b="1" u="none" strike="noStrike">
              <a:solidFill>
                <a:srgbClr val="000000"/>
              </a:solidFill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773250" y="3806417"/>
            <a:ext cx="3894900" cy="692100"/>
          </a:xfrm>
          <a:prstGeom prst="roundRect">
            <a:avLst>
              <a:gd name="adj" fmla="val 14286"/>
            </a:avLst>
          </a:prstGeom>
          <a:solidFill>
            <a:srgbClr val="DDD8FF"/>
          </a:solidFill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4800650" y="3858650"/>
            <a:ext cx="38400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u="none" strike="noStrike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Ex: </a:t>
            </a: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2 colaboradores com jornada de 8h cada → DisponibilidadeTotal = </a:t>
            </a:r>
            <a:b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2 x 480 = 960 min. Soma dos atendimentos concluídos = 720 min:</a:t>
            </a:r>
            <a:endParaRPr sz="1000" b="1">
              <a:solidFill>
                <a:srgbClr val="3D3D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3D3DB8"/>
                </a:solidFill>
                <a:latin typeface="Calibri"/>
                <a:ea typeface="Calibri"/>
                <a:cs typeface="Calibri"/>
                <a:sym typeface="Calibri"/>
              </a:rPr>
              <a:t>TOC = (720 / 960) x 100 = 0,75 x 100 = 75%</a:t>
            </a:r>
            <a:endParaRPr sz="1000" b="1">
              <a:solidFill>
                <a:srgbClr val="3D3D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8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6666AA"/>
                </a:solidFill>
                <a:latin typeface="Calibri"/>
                <a:ea typeface="Calibri"/>
                <a:cs typeface="Calibri"/>
                <a:sym typeface="Calibri"/>
              </a:rPr>
              <a:t>Servify  ·  Agende. Gerencie. Cresça.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Servify_Video_720p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403648" y="195486"/>
            <a:ext cx="6048672" cy="45365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8"/>
          <p:cNvSpPr/>
          <p:nvPr/>
        </p:nvSpPr>
        <p:spPr>
          <a:xfrm>
            <a:off x="457200" y="365760"/>
            <a:ext cx="82292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051560"/>
            <a:ext cx="319680" cy="3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/>
          <p:nvPr/>
        </p:nvSpPr>
        <p:spPr>
          <a:xfrm>
            <a:off x="868680" y="102420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 contextualizado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868680" y="1298520"/>
            <a:ext cx="777204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Gestão manual ineficiente em 1,2M de estabelecimentos no Brasil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801440"/>
            <a:ext cx="319680" cy="3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8"/>
          <p:cNvSpPr/>
          <p:nvPr/>
        </p:nvSpPr>
        <p:spPr>
          <a:xfrm>
            <a:off x="868680" y="177408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Solução desenvolvida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868680" y="2048400"/>
            <a:ext cx="777204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Plataforma web full-stack com React, Spring Boot e PostgreSQL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2551320"/>
            <a:ext cx="319680" cy="3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8"/>
          <p:cNvSpPr/>
          <p:nvPr/>
        </p:nvSpPr>
        <p:spPr>
          <a:xfrm>
            <a:off x="868680" y="252360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Processos modelados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868680" y="2797920"/>
            <a:ext cx="777204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5 processos TO-BE em BPMN: usuário, serviço, agendamento, comissão e relatório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3300840"/>
            <a:ext cx="319680" cy="3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8"/>
          <p:cNvSpPr/>
          <p:nvPr/>
        </p:nvSpPr>
        <p:spPr>
          <a:xfrm>
            <a:off x="868680" y="327348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dados definido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868680" y="3547800"/>
            <a:ext cx="777204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6 tabelas relacionais normalizadas em PostgreSQL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4050720"/>
            <a:ext cx="319680" cy="319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/>
          <p:nvPr/>
        </p:nvSpPr>
        <p:spPr>
          <a:xfrm>
            <a:off x="868680" y="4023360"/>
            <a:ext cx="7772040" cy="29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 estabelecidos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868680" y="4297680"/>
            <a:ext cx="777204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u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4 indicadores de desempenho baseados nos dados do sistema</a:t>
            </a:r>
            <a:endParaRPr sz="1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457200" y="4709160"/>
            <a:ext cx="8229240" cy="31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>
                <a:solidFill>
                  <a:srgbClr val="6666AA"/>
                </a:solidFill>
                <a:latin typeface="Calibri"/>
                <a:ea typeface="Calibri"/>
                <a:cs typeface="Calibri"/>
                <a:sym typeface="Calibri"/>
              </a:rPr>
              <a:t>Servify  ·  Agende. Gerencie. Cresça.</a:t>
            </a:r>
            <a:endParaRPr sz="12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0000" y="-360000"/>
            <a:ext cx="10260361" cy="68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02" name="Google Shape;302;p19" descr="/mnt/user-data/uploads/WhatsApp_Image_2026-06-29_at_01_54_32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08200" y="1202660"/>
            <a:ext cx="4327576" cy="432757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9"/>
          <p:cNvSpPr/>
          <p:nvPr/>
        </p:nvSpPr>
        <p:spPr>
          <a:xfrm>
            <a:off x="3021896" y="763425"/>
            <a:ext cx="3100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55308D"/>
                </a:solidFill>
              </a:rPr>
              <a:t>Obrigado(a)!</a:t>
            </a:r>
            <a:endParaRPr sz="4000" b="0" i="0" u="none" strike="noStrike" cap="none">
              <a:solidFill>
                <a:srgbClr val="55308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681</Words>
  <Application>Microsoft Office PowerPoint</Application>
  <PresentationFormat>Apresentação na tela (16:9)</PresentationFormat>
  <Paragraphs>150</Paragraphs>
  <Slides>18</Slides>
  <Notes>18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Adriani</cp:lastModifiedBy>
  <cp:revision>1</cp:revision>
  <dcterms:modified xsi:type="dcterms:W3CDTF">2026-06-30T14:54:46Z</dcterms:modified>
</cp:coreProperties>
</file>